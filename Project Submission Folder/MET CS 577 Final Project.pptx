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331" r:id="rId1"/>
  </p:sldMasterIdLst>
  <p:notesMasterIdLst>
    <p:notesMasterId r:id="rId9"/>
  </p:notesMasterIdLst>
  <p:sldIdLst>
    <p:sldId id="256" r:id="rId2"/>
    <p:sldId id="267" r:id="rId3"/>
    <p:sldId id="268" r:id="rId4"/>
    <p:sldId id="269" r:id="rId5"/>
    <p:sldId id="274" r:id="rId6"/>
    <p:sldId id="272" r:id="rId7"/>
    <p:sldId id="273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13" y="28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866547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15266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991213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959408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60761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28077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60481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84159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114673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656997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44910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394246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457898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787379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756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56458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32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0" r:id="rId9"/>
    <p:sldLayoutId id="2147484341" r:id="rId10"/>
    <p:sldLayoutId id="2147484342" r:id="rId11"/>
    <p:sldLayoutId id="2147484343" r:id="rId12"/>
    <p:sldLayoutId id="2147484344" r:id="rId13"/>
    <p:sldLayoutId id="2147484345" r:id="rId14"/>
    <p:sldLayoutId id="2147484346" r:id="rId15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urldefense.com/v3/__https:/arxiv.org/pdf/2403.03952.pdf__;!!Mih3wA!EGkx27nmvdVMhh2uxQ7Mc0rNrXQwV8GsOpd3uSc6ZjJGAVhgy9o5bn3Jeb73P4Lz7oL2dIDMdZR4IHI$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Freeform 6">
            <a:extLst>
              <a:ext uri="{FF2B5EF4-FFF2-40B4-BE49-F238E27FC236}">
                <a16:creationId xmlns:a16="http://schemas.microsoft.com/office/drawing/2014/main" id="{E446B7E6-8568-417F-959E-DB3D1E7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28" name="Picture 4" descr="Amazon chooses paper over plastic, announces major packaging change">
            <a:extLst>
              <a:ext uri="{FF2B5EF4-FFF2-40B4-BE49-F238E27FC236}">
                <a16:creationId xmlns:a16="http://schemas.microsoft.com/office/drawing/2014/main" id="{EB6CF597-15F7-805D-C67A-441AC4854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4" b="27492"/>
          <a:stretch>
            <a:fillRect/>
          </a:stretch>
        </p:blipFill>
        <p:spPr bwMode="auto">
          <a:xfrm>
            <a:off x="20" y="10"/>
            <a:ext cx="9143980" cy="36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9" name="Freeform 9">
            <a:extLst>
              <a:ext uri="{FF2B5EF4-FFF2-40B4-BE49-F238E27FC236}">
                <a16:creationId xmlns:a16="http://schemas.microsoft.com/office/drawing/2014/main" id="{AFB83730-58A8-42CA-90B3-5D5D2D1B0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3410731"/>
            <a:ext cx="9144000" cy="1749680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09591" y="3671668"/>
            <a:ext cx="7929000" cy="584647"/>
          </a:xfr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l" defTabSz="457200">
              <a:spcBef>
                <a:spcPct val="0"/>
              </a:spcBef>
            </a:pPr>
            <a:r>
              <a:rPr lang="en-US" sz="3000" dirty="0"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Sentiment Analysis of Amazon Reviews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07500" y="4195582"/>
            <a:ext cx="7929000" cy="324798"/>
          </a:xfrm>
        </p:spPr>
        <p:txBody>
          <a:bodyPr spcFirstLastPara="1" vert="horz" lIns="91440" tIns="45720" rIns="91440" bIns="45720" rtlCol="0" anchor="t" anchorCtr="0">
            <a:noAutofit/>
          </a:bodyPr>
          <a:lstStyle/>
          <a:p>
            <a:pPr marL="0" lvl="0" indent="0" algn="l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80000"/>
              <a:buNone/>
            </a:pPr>
            <a:r>
              <a:rPr lang="en-US" sz="1600" cap="all" dirty="0"/>
              <a:t>Luke Therieau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5BA3AE5-0FB8-4948-A421-5CEE1A5E8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9">
            <a:extLst>
              <a:ext uri="{FF2B5EF4-FFF2-40B4-BE49-F238E27FC236}">
                <a16:creationId xmlns:a16="http://schemas.microsoft.com/office/drawing/2014/main" id="{615FFFBF-F0D2-4BB8-BB9E-3ADC47E3B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864100" cy="51435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C8929D-3D25-1579-A470-8C95C69E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500" y="335391"/>
            <a:ext cx="3779276" cy="11695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457200"/>
            <a:r>
              <a:rPr lang="en-US" sz="4000" dirty="0"/>
              <a:t>Data Source &amp; Extraction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D36FE-28FB-29F4-15BD-77919484B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4034" y="1676400"/>
            <a:ext cx="3762194" cy="2857500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endParaRPr lang="en-US" dirty="0">
              <a:solidFill>
                <a:srgbClr val="FFFFFF"/>
              </a:solidFill>
            </a:endParaRP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>
                <a:solidFill>
                  <a:srgbClr val="FFFFFF"/>
                </a:solidFill>
              </a:rPr>
              <a:t>The data source for this project was Amazon reviews created between May 1996 and September 2023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>
                <a:solidFill>
                  <a:srgbClr val="FFFFFF"/>
                </a:solidFill>
              </a:rPr>
              <a:t>Collected by students and faculty at the University of California San Diego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>
                <a:solidFill>
                  <a:srgbClr val="FFFFFF"/>
                </a:solidFill>
              </a:rPr>
              <a:t>The datasets combined, represent a total of 571.54 million reviews and 34 distinct categories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>
                <a:solidFill>
                  <a:srgbClr val="FFFFFF"/>
                </a:solidFill>
              </a:rPr>
              <a:t>This project’s focus was a subset of this data, consisting of the category of Video Games, which had 4.6M reviews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>
                <a:solidFill>
                  <a:srgbClr val="FFFFFF"/>
                </a:solidFill>
              </a:rPr>
              <a:t>Created a multithreaded web scraper to extract the dataset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>
                <a:solidFill>
                  <a:srgbClr val="FFFFFF"/>
                </a:solidFill>
              </a:rPr>
              <a:t>Data saved as feather files (.</a:t>
            </a:r>
            <a:r>
              <a:rPr lang="en-US" dirty="0" err="1">
                <a:solidFill>
                  <a:srgbClr val="FFFFFF"/>
                </a:solidFill>
              </a:rPr>
              <a:t>ftr</a:t>
            </a:r>
            <a:r>
              <a:rPr lang="en-US" dirty="0">
                <a:solidFill>
                  <a:srgbClr val="FFFFFF"/>
                </a:solidFill>
              </a:rPr>
              <a:t>), a portable file format that allows for fast and efficient read/write data operations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endParaRPr lang="en-US" dirty="0">
              <a:solidFill>
                <a:srgbClr val="FFFFFF"/>
              </a:solidFill>
            </a:endParaRP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1" name="Rounded Rectangle 17">
            <a:extLst>
              <a:ext uri="{FF2B5EF4-FFF2-40B4-BE49-F238E27FC236}">
                <a16:creationId xmlns:a16="http://schemas.microsoft.com/office/drawing/2014/main" id="{FD056B7E-FBD7-4858-966D-9C4DEDA7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6699" y="718980"/>
            <a:ext cx="3314703" cy="3708933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4FEF42D-AE42-39E5-E3A7-5A5FBB30C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284" y="943896"/>
            <a:ext cx="2265238" cy="32476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1406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0858A-BD38-04A2-A6E6-B2D2E949A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Freeform 6">
            <a:extLst>
              <a:ext uri="{FF2B5EF4-FFF2-40B4-BE49-F238E27FC236}">
                <a16:creationId xmlns:a16="http://schemas.microsoft.com/office/drawing/2014/main" id="{1FCF5244-C62C-4E27-B395-14F26DFB1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27E4CA8E-5CC0-4B96-8E67-040FB5673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9" name="Freeform 9">
            <a:extLst>
              <a:ext uri="{FF2B5EF4-FFF2-40B4-BE49-F238E27FC236}">
                <a16:creationId xmlns:a16="http://schemas.microsoft.com/office/drawing/2014/main" id="{E9E16A42-F4F8-425E-9DA6-3237A0CBD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864100" cy="51435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C58603-653B-7B6E-5A61-A3D12A04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500" y="335391"/>
            <a:ext cx="3779276" cy="11695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3400"/>
              <a:t>Data Exploration &amp; Transformation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26E59-7ECF-1559-E77D-C1F5D9E0C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4034" y="1809749"/>
            <a:ext cx="3762194" cy="31953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b="0" i="0" dirty="0">
                <a:effectLst/>
              </a:rPr>
              <a:t>Majority of video game reviews that were collected were written between 2013 and 2021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Total size of dataset (minus neutral reviews) was 4.2 million</a:t>
            </a:r>
            <a:endParaRPr lang="en-US" b="0" i="0" dirty="0">
              <a:effectLst/>
            </a:endParaRP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b="0" i="0" dirty="0">
                <a:effectLst/>
              </a:rPr>
              <a:t> </a:t>
            </a:r>
            <a:r>
              <a:rPr lang="en-US" dirty="0"/>
              <a:t>For sentiment scores:</a:t>
            </a:r>
          </a:p>
          <a:p>
            <a:pPr marL="514350" lvl="1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b="0" i="0" dirty="0">
                <a:effectLst/>
              </a:rPr>
              <a:t>1- &amp; 2-star reviews were labeled negative </a:t>
            </a:r>
            <a:r>
              <a:rPr lang="en-US" dirty="0"/>
              <a:t>(0) </a:t>
            </a:r>
            <a:r>
              <a:rPr lang="en-US" b="0" i="0" dirty="0">
                <a:effectLst/>
              </a:rPr>
              <a:t>reviews</a:t>
            </a:r>
          </a:p>
          <a:p>
            <a:pPr marL="857250" lvl="2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839 thousand reviews or about 20% of final dataset</a:t>
            </a:r>
            <a:endParaRPr lang="en-US" b="0" i="0" dirty="0">
              <a:effectLst/>
            </a:endParaRPr>
          </a:p>
          <a:p>
            <a:pPr marL="514350" lvl="1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3-star reviews were excluded for analysis (neutral sentiment)</a:t>
            </a:r>
            <a:endParaRPr lang="en-US" b="0" i="0" dirty="0">
              <a:effectLst/>
            </a:endParaRPr>
          </a:p>
          <a:p>
            <a:pPr marL="514350" lvl="1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4- &amp; 5-star reviews were labeled positive (1) reviews</a:t>
            </a:r>
          </a:p>
          <a:p>
            <a:pPr marL="857250" lvl="2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3.44 million reviews or about 80% of final dataset</a:t>
            </a:r>
          </a:p>
        </p:txBody>
      </p:sp>
      <p:sp>
        <p:nvSpPr>
          <p:cNvPr id="2091" name="Rounded Rectangle 17">
            <a:extLst>
              <a:ext uri="{FF2B5EF4-FFF2-40B4-BE49-F238E27FC236}">
                <a16:creationId xmlns:a16="http://schemas.microsoft.com/office/drawing/2014/main" id="{15285B77-8322-4381-BE3F-F6FE0271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6699" y="718980"/>
            <a:ext cx="3314703" cy="3708933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line graph with red dots&#10;&#10;AI-generated content may be incorrect.">
            <a:extLst>
              <a:ext uri="{FF2B5EF4-FFF2-40B4-BE49-F238E27FC236}">
                <a16:creationId xmlns:a16="http://schemas.microsoft.com/office/drawing/2014/main" id="{62B11C8F-4ACA-9FB0-F63D-BE03C2EDA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156" y="956227"/>
            <a:ext cx="2319787" cy="1542659"/>
          </a:xfrm>
          <a:prstGeom prst="rect">
            <a:avLst/>
          </a:prstGeom>
        </p:spPr>
      </p:pic>
      <p:pic>
        <p:nvPicPr>
          <p:cNvPr id="13" name="Picture 12" descr="A screenshot of a review&#10;&#10;AI-generated content may be incorrect.">
            <a:extLst>
              <a:ext uri="{FF2B5EF4-FFF2-40B4-BE49-F238E27FC236}">
                <a16:creationId xmlns:a16="http://schemas.microsoft.com/office/drawing/2014/main" id="{0131DD3E-F398-25E7-DDCD-EE5240D9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581" y="2622330"/>
            <a:ext cx="2242937" cy="157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6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AF712-DE38-A103-CD64-871AC71C8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6">
            <a:extLst>
              <a:ext uri="{FF2B5EF4-FFF2-40B4-BE49-F238E27FC236}">
                <a16:creationId xmlns:a16="http://schemas.microsoft.com/office/drawing/2014/main" id="{1FCF5244-C62C-4E27-B395-14F26DFB1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7E4CA8E-5CC0-4B96-8E67-040FB5673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9">
            <a:extLst>
              <a:ext uri="{FF2B5EF4-FFF2-40B4-BE49-F238E27FC236}">
                <a16:creationId xmlns:a16="http://schemas.microsoft.com/office/drawing/2014/main" id="{E9E16A42-F4F8-425E-9DA6-3237A0CBD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864100" cy="51435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8F3DB-9EA4-EA39-8A70-41E4F2C87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500" y="335391"/>
            <a:ext cx="3779276" cy="11695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457200">
              <a:lnSpc>
                <a:spcPct val="90000"/>
              </a:lnSpc>
            </a:pPr>
            <a:r>
              <a:rPr lang="en-US" sz="3700" dirty="0"/>
              <a:t>Preprocessing and Splitting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FFD60-783B-704E-8F82-7B279B7D3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4034" y="1809750"/>
            <a:ext cx="3762194" cy="27241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Training set is Amazon reviews created in 2019 or prior, which accounted for 65% of all data.</a:t>
            </a:r>
          </a:p>
          <a:p>
            <a:pPr marL="514350" lvl="1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Training set had 82% positive and 18% negative reviews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Testing set is </a:t>
            </a:r>
            <a:r>
              <a:rPr lang="en-US" dirty="0" err="1"/>
              <a:t>Amazom</a:t>
            </a:r>
            <a:r>
              <a:rPr lang="en-US" dirty="0"/>
              <a:t> reviews created in 2020 and after, which accounted for 35% of all data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I transformed and fitted the training features utilizing Count Vectorizer, which converts them into a sparse matrix containing word frequencies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dirty="0"/>
              <a:t>Test features were transformed (not fitted) using the training count vector</a:t>
            </a:r>
          </a:p>
          <a:p>
            <a:pPr marL="171450" indent="-171450" defTabSz="457200">
              <a:spcAft>
                <a:spcPts val="600"/>
              </a:spcAft>
              <a:buFont typeface="Wingdings 2" charset="2"/>
              <a:buChar char=""/>
            </a:pPr>
            <a:endParaRPr lang="en-US" dirty="0"/>
          </a:p>
        </p:txBody>
      </p:sp>
      <p:sp>
        <p:nvSpPr>
          <p:cNvPr id="65" name="Rounded Rectangle 17">
            <a:extLst>
              <a:ext uri="{FF2B5EF4-FFF2-40B4-BE49-F238E27FC236}">
                <a16:creationId xmlns:a16="http://schemas.microsoft.com/office/drawing/2014/main" id="{15285B77-8322-4381-BE3F-F6FE0271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6699" y="718980"/>
            <a:ext cx="3314703" cy="3708933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aph with red dots&#10;&#10;AI-generated content may be incorrect.">
            <a:extLst>
              <a:ext uri="{FF2B5EF4-FFF2-40B4-BE49-F238E27FC236}">
                <a16:creationId xmlns:a16="http://schemas.microsoft.com/office/drawing/2014/main" id="{F2898936-3680-DEE8-228A-A61B9EC2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185" y="1022666"/>
            <a:ext cx="2833730" cy="140978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03A220-3AE8-23BE-EA1F-C5F71775D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185" y="2645793"/>
            <a:ext cx="2833730" cy="152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8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D8D80-5490-EACF-FA39-1ABCA32B6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16E3E5-5186-46A4-AFBD-337387D31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" y="0"/>
            <a:ext cx="914057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7B8FAACC-353E-4F84-BA62-A5514185D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5666246" y="0"/>
            <a:ext cx="3477754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12121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6DE04-FF42-36F0-845D-3EF56D1BD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561" y="342900"/>
            <a:ext cx="2681803" cy="999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457200"/>
            <a:r>
              <a:rPr lang="en-US" sz="2400" dirty="0">
                <a:solidFill>
                  <a:srgbClr val="FFFFFF"/>
                </a:solidFill>
              </a:rPr>
              <a:t>Model &amp; Results</a:t>
            </a:r>
          </a:p>
        </p:txBody>
      </p:sp>
      <p:pic>
        <p:nvPicPr>
          <p:cNvPr id="9" name="Picture 8" descr="A chart of confusion matrix&#10;&#10;AI-generated content may be incorrect.">
            <a:extLst>
              <a:ext uri="{FF2B5EF4-FFF2-40B4-BE49-F238E27FC236}">
                <a16:creationId xmlns:a16="http://schemas.microsoft.com/office/drawing/2014/main" id="{6B3A84A6-3E82-3777-AE7C-D5490344D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70" y="360111"/>
            <a:ext cx="4959642" cy="4153699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6C681-0F74-0DC5-EE0F-ECCB6F6DA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3561" y="1780672"/>
            <a:ext cx="2681803" cy="30711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71450" indent="-171450" defTabSz="457200">
              <a:lnSpc>
                <a:spcPct val="90000"/>
              </a:lnSpc>
              <a:spcAft>
                <a:spcPts val="600"/>
              </a:spcAft>
              <a:buFont typeface="Wingdings 2" charset="2"/>
              <a:buChar char=""/>
            </a:pPr>
            <a:r>
              <a:rPr lang="en-US" sz="1100" dirty="0">
                <a:solidFill>
                  <a:srgbClr val="FFFFFF"/>
                </a:solidFill>
              </a:rPr>
              <a:t>Multinomial Naïve Bayesian model was used for this project</a:t>
            </a:r>
          </a:p>
          <a:p>
            <a:pPr marL="171450" indent="-171450" defTabSz="457200">
              <a:lnSpc>
                <a:spcPct val="90000"/>
              </a:lnSpc>
              <a:spcAft>
                <a:spcPts val="600"/>
              </a:spcAft>
              <a:buFont typeface="Wingdings 2" charset="2"/>
              <a:buChar char=""/>
            </a:pPr>
            <a:r>
              <a:rPr lang="en-US" sz="1100" dirty="0" err="1">
                <a:solidFill>
                  <a:srgbClr val="FFFFFF"/>
                </a:solidFill>
              </a:rPr>
              <a:t>MultinomialNB</a:t>
            </a:r>
            <a:r>
              <a:rPr lang="en-US" sz="1100" dirty="0">
                <a:solidFill>
                  <a:srgbClr val="FFFFFF"/>
                </a:solidFill>
              </a:rPr>
              <a:t> works best with discreate features like text frequencies, where It assumes word frequencies are independent of each other </a:t>
            </a:r>
          </a:p>
          <a:p>
            <a:pPr marL="171450" indent="-171450" defTabSz="457200">
              <a:lnSpc>
                <a:spcPct val="90000"/>
              </a:lnSpc>
              <a:spcAft>
                <a:spcPts val="600"/>
              </a:spcAft>
              <a:buFont typeface="Wingdings 2" charset="2"/>
              <a:buChar char=""/>
            </a:pPr>
            <a:r>
              <a:rPr lang="en-US" sz="1100" dirty="0" err="1">
                <a:solidFill>
                  <a:srgbClr val="FFFFFF"/>
                </a:solidFill>
              </a:rPr>
              <a:t>MultinomialNB</a:t>
            </a:r>
            <a:r>
              <a:rPr lang="en-US" sz="1100" dirty="0">
                <a:solidFill>
                  <a:srgbClr val="FFFFFF"/>
                </a:solidFill>
              </a:rPr>
              <a:t> is popular in the use of sentiment analysis and other NLP tasks.</a:t>
            </a:r>
          </a:p>
          <a:p>
            <a:pPr marL="171450" indent="-171450" defTabSz="457200">
              <a:lnSpc>
                <a:spcPct val="90000"/>
              </a:lnSpc>
              <a:spcAft>
                <a:spcPts val="600"/>
              </a:spcAft>
              <a:buFont typeface="Wingdings 2" charset="2"/>
              <a:buChar char=""/>
            </a:pPr>
            <a:r>
              <a:rPr lang="en-US" sz="1100" dirty="0">
                <a:solidFill>
                  <a:srgbClr val="FFFFFF"/>
                </a:solidFill>
              </a:rPr>
              <a:t>The model generated an accuracy of 89%</a:t>
            </a:r>
          </a:p>
          <a:p>
            <a:pPr marL="171450" indent="-171450" defTabSz="457200">
              <a:lnSpc>
                <a:spcPct val="90000"/>
              </a:lnSpc>
              <a:spcAft>
                <a:spcPts val="600"/>
              </a:spcAft>
              <a:buFont typeface="Wingdings 2" charset="2"/>
              <a:buChar char=""/>
            </a:pPr>
            <a:r>
              <a:rPr lang="en-US" sz="1100" dirty="0">
                <a:solidFill>
                  <a:srgbClr val="FFFFFF"/>
                </a:solidFill>
              </a:rPr>
              <a:t>Got a true positive rate value of 94% and a true negative rate value of 74%</a:t>
            </a:r>
          </a:p>
          <a:p>
            <a:pPr marL="171450" indent="-171450" defTabSz="457200">
              <a:lnSpc>
                <a:spcPct val="90000"/>
              </a:lnSpc>
              <a:spcAft>
                <a:spcPts val="600"/>
              </a:spcAft>
              <a:buFont typeface="Wingdings 2" charset="2"/>
              <a:buChar char=""/>
            </a:pPr>
            <a:endParaRPr lang="en-US" sz="1100" dirty="0">
              <a:solidFill>
                <a:srgbClr val="FFFFFF"/>
              </a:solidFill>
            </a:endParaRPr>
          </a:p>
          <a:p>
            <a:pPr marL="171450" indent="-171450" defTabSz="457200">
              <a:lnSpc>
                <a:spcPct val="90000"/>
              </a:lnSpc>
              <a:spcAft>
                <a:spcPts val="600"/>
              </a:spcAft>
              <a:buFont typeface="Wingdings 2" charset="2"/>
              <a:buChar char=""/>
            </a:pPr>
            <a:endParaRPr lang="en-US" sz="1100" dirty="0">
              <a:solidFill>
                <a:srgbClr val="FFFFFF"/>
              </a:solidFill>
            </a:endParaRPr>
          </a:p>
          <a:p>
            <a:pPr marL="171450" indent="-171450" defTabSz="457200">
              <a:lnSpc>
                <a:spcPct val="90000"/>
              </a:lnSpc>
              <a:spcAft>
                <a:spcPts val="600"/>
              </a:spcAft>
              <a:buFont typeface="Wingdings 2" charset="2"/>
              <a:buChar char=""/>
            </a:pPr>
            <a:endParaRPr lang="en-US"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805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86FAA-A617-8911-3623-E81FB890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1FCF5244-C62C-4E27-B395-14F26DFB1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1DFCBE5-52C1-48A9-89CF-E7D68CCA1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AB74CA-E76D-4922-91FE-A4AAF0487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35402"/>
            <a:ext cx="8780525" cy="1929466"/>
          </a:xfrm>
          <a:custGeom>
            <a:avLst/>
            <a:gdLst>
              <a:gd name="connsiteX0" fmla="*/ 0 w 11707367"/>
              <a:gd name="connsiteY0" fmla="*/ 0 h 2572622"/>
              <a:gd name="connsiteX1" fmla="*/ 1888420 w 11707367"/>
              <a:gd name="connsiteY1" fmla="*/ 0 h 2572622"/>
              <a:gd name="connsiteX2" fmla="*/ 2198560 w 11707367"/>
              <a:gd name="connsiteY2" fmla="*/ 310139 h 2572622"/>
              <a:gd name="connsiteX3" fmla="*/ 2425431 w 11707367"/>
              <a:gd name="connsiteY3" fmla="*/ 310139 h 2572622"/>
              <a:gd name="connsiteX4" fmla="*/ 2735570 w 11707367"/>
              <a:gd name="connsiteY4" fmla="*/ 0 h 2572622"/>
              <a:gd name="connsiteX5" fmla="*/ 11707367 w 11707367"/>
              <a:gd name="connsiteY5" fmla="*/ 0 h 2572622"/>
              <a:gd name="connsiteX6" fmla="*/ 11707367 w 11707367"/>
              <a:gd name="connsiteY6" fmla="*/ 2572622 h 2572622"/>
              <a:gd name="connsiteX7" fmla="*/ 0 w 11707367"/>
              <a:gd name="connsiteY7" fmla="*/ 2572622 h 2572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07367" h="2572622">
                <a:moveTo>
                  <a:pt x="0" y="0"/>
                </a:moveTo>
                <a:lnTo>
                  <a:pt x="1888420" y="0"/>
                </a:lnTo>
                <a:lnTo>
                  <a:pt x="2198560" y="310139"/>
                </a:lnTo>
                <a:cubicBezTo>
                  <a:pt x="2261209" y="372788"/>
                  <a:pt x="2362782" y="372788"/>
                  <a:pt x="2425431" y="310139"/>
                </a:cubicBezTo>
                <a:lnTo>
                  <a:pt x="2735570" y="0"/>
                </a:lnTo>
                <a:lnTo>
                  <a:pt x="11707367" y="0"/>
                </a:lnTo>
                <a:lnTo>
                  <a:pt x="11707367" y="2572622"/>
                </a:lnTo>
                <a:lnTo>
                  <a:pt x="0" y="2572622"/>
                </a:lnTo>
                <a:close/>
              </a:path>
            </a:pathLst>
          </a:custGeom>
          <a:solidFill>
            <a:srgbClr val="595959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79AB9E-6749-6D5A-84FF-47F945AB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68" y="3037114"/>
            <a:ext cx="3619110" cy="14124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sz="4000" dirty="0">
                <a:solidFill>
                  <a:srgbClr val="FFFFFF"/>
                </a:solidFill>
              </a:rPr>
              <a:t>Important Features</a:t>
            </a:r>
          </a:p>
        </p:txBody>
      </p:sp>
      <p:pic>
        <p:nvPicPr>
          <p:cNvPr id="10" name="Picture 9" descr="A close-up of words&#10;&#10;AI-generated content may be incorrect.">
            <a:extLst>
              <a:ext uri="{FF2B5EF4-FFF2-40B4-BE49-F238E27FC236}">
                <a16:creationId xmlns:a16="http://schemas.microsoft.com/office/drawing/2014/main" id="{FD48FB57-2380-2205-4D22-940AF9954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68" y="442993"/>
            <a:ext cx="3897673" cy="1997557"/>
          </a:xfrm>
          <a:prstGeom prst="rect">
            <a:avLst/>
          </a:prstGeom>
        </p:spPr>
      </p:pic>
      <p:pic>
        <p:nvPicPr>
          <p:cNvPr id="5" name="Picture 4" descr="A close up of words&#10;&#10;AI-generated content may be incorrect.">
            <a:extLst>
              <a:ext uri="{FF2B5EF4-FFF2-40B4-BE49-F238E27FC236}">
                <a16:creationId xmlns:a16="http://schemas.microsoft.com/office/drawing/2014/main" id="{75544CAF-959D-CA70-DC1C-ACC44E7B2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740" y="456801"/>
            <a:ext cx="3843786" cy="196994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C35657-333B-D5C6-948A-FA5863E4B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53737" y="3037113"/>
            <a:ext cx="3634613" cy="14124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sz="1400" dirty="0">
                <a:solidFill>
                  <a:srgbClr val="FFFFFF"/>
                </a:solidFill>
              </a:rPr>
              <a:t>Top 100 features for positive and negative reviews, based on log probability</a:t>
            </a:r>
          </a:p>
          <a:p>
            <a:pPr defTabSz="457200">
              <a:spcAft>
                <a:spcPts val="600"/>
              </a:spcAft>
              <a:buFont typeface="Wingdings 2" charset="2"/>
              <a:buChar char=""/>
            </a:pPr>
            <a:r>
              <a:rPr lang="en-US" sz="1400" dirty="0">
                <a:solidFill>
                  <a:srgbClr val="FFFFFF"/>
                </a:solidFill>
              </a:rPr>
              <a:t>Word clouds weighted based on these probability values</a:t>
            </a:r>
          </a:p>
        </p:txBody>
      </p:sp>
    </p:spTree>
    <p:extLst>
      <p:ext uri="{BB962C8B-B14F-4D97-AF65-F5344CB8AC3E}">
        <p14:creationId xmlns:p14="http://schemas.microsoft.com/office/powerpoint/2010/main" val="77106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FE112-5C03-2E35-94CB-E491517A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8EE457FF-670E-4EC1-ACD4-1173DA9A7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38B06-42DB-1FEC-7138-904B83830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913857"/>
            <a:ext cx="2390488" cy="3315787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2400">
                <a:solidFill>
                  <a:schemeClr val="tx1"/>
                </a:solidFill>
              </a:rPr>
              <a:t>Data Source Citation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7225" y="1272582"/>
            <a:ext cx="0" cy="259833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6D572-C723-5A79-852F-481CAE909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60063" y="913856"/>
            <a:ext cx="4560037" cy="3315788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1200" b="1" dirty="0"/>
              <a:t>Bridging Language and Items for Retrieval and Recommendation</a:t>
            </a:r>
            <a:br>
              <a:rPr lang="en-US" sz="1200" dirty="0"/>
            </a:br>
            <a:r>
              <a:rPr lang="en-US" sz="1200" dirty="0" err="1"/>
              <a:t>Yupeng</a:t>
            </a:r>
            <a:r>
              <a:rPr lang="en-US" sz="1200" dirty="0"/>
              <a:t> Hou, Jiacheng Li, </a:t>
            </a:r>
            <a:r>
              <a:rPr lang="en-US" sz="1200" dirty="0" err="1"/>
              <a:t>Zhankui</a:t>
            </a:r>
            <a:r>
              <a:rPr lang="en-US" sz="1200" dirty="0"/>
              <a:t> He, An Yan, </a:t>
            </a:r>
            <a:r>
              <a:rPr lang="en-US" sz="1200" dirty="0" err="1"/>
              <a:t>Xiusi</a:t>
            </a:r>
            <a:r>
              <a:rPr lang="en-US" sz="1200" dirty="0"/>
              <a:t> Chen, Julian McAuley</a:t>
            </a:r>
            <a:br>
              <a:rPr lang="en-US" sz="1200" dirty="0"/>
            </a:br>
            <a:r>
              <a:rPr lang="en-US" sz="1200" i="1" dirty="0" err="1"/>
              <a:t>arXiv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pdf</a:t>
            </a:r>
            <a:endParaRPr lang="en-US" sz="1200" dirty="0"/>
          </a:p>
          <a:p>
            <a:pPr defTabSz="457200">
              <a:spcAft>
                <a:spcPts val="600"/>
              </a:spcAft>
              <a:buFont typeface="Wingdings 2" charset="2"/>
              <a:buChar char="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15704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805</TotalTime>
  <Words>411</Words>
  <Application>Microsoft Office PowerPoint</Application>
  <PresentationFormat>On-screen Show (16:9)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2</vt:lpstr>
      <vt:lpstr>Quotable</vt:lpstr>
      <vt:lpstr>Sentiment Analysis of Amazon Reviews</vt:lpstr>
      <vt:lpstr>Data Source &amp; Extraction</vt:lpstr>
      <vt:lpstr>Data Exploration &amp; Transformation</vt:lpstr>
      <vt:lpstr>Preprocessing and Splitting Data</vt:lpstr>
      <vt:lpstr>Model &amp; Results</vt:lpstr>
      <vt:lpstr>Important Features</vt:lpstr>
      <vt:lpstr>Data Source Citation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Luke Therieau</cp:lastModifiedBy>
  <cp:revision>54</cp:revision>
  <dcterms:modified xsi:type="dcterms:W3CDTF">2025-12-08T23:18:05Z</dcterms:modified>
</cp:coreProperties>
</file>